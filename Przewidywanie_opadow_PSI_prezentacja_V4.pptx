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0" r:id="rId5"/>
    <p:sldId id="271" r:id="rId6"/>
    <p:sldId id="266" r:id="rId7"/>
    <p:sldId id="289" r:id="rId8"/>
    <p:sldId id="279" r:id="rId9"/>
    <p:sldId id="260" r:id="rId10"/>
    <p:sldId id="284" r:id="rId11"/>
    <p:sldId id="282" r:id="rId12"/>
    <p:sldId id="28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3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5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2416E4-42EE-4EA6-9F95-3B061C480D2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C6DAA55D-31A5-4252-92BA-21CDE5566D27}">
      <dgm:prSet/>
      <dgm:spPr/>
      <dgm:t>
        <a:bodyPr/>
        <a:lstStyle/>
        <a:p>
          <a:r>
            <a:rPr lang="en-US" b="0" i="0"/>
            <a:t>Dane pogodowe (pomiarowe) z 59 stacji meteorologicznych na terenie Polski.</a:t>
          </a:r>
          <a:endParaRPr lang="en-US"/>
        </a:p>
      </dgm:t>
    </dgm:pt>
    <dgm:pt modelId="{C3947877-62ED-4DB6-B2E2-637397FC0C41}" type="parTrans" cxnId="{94085A04-0625-498A-9879-EC233596F824}">
      <dgm:prSet/>
      <dgm:spPr/>
      <dgm:t>
        <a:bodyPr/>
        <a:lstStyle/>
        <a:p>
          <a:endParaRPr lang="en-US"/>
        </a:p>
      </dgm:t>
    </dgm:pt>
    <dgm:pt modelId="{5826CFA6-FFB0-4E6E-B3F3-68C5AF1A4C2A}" type="sibTrans" cxnId="{94085A04-0625-498A-9879-EC233596F824}">
      <dgm:prSet/>
      <dgm:spPr/>
      <dgm:t>
        <a:bodyPr/>
        <a:lstStyle/>
        <a:p>
          <a:endParaRPr lang="en-US"/>
        </a:p>
      </dgm:t>
    </dgm:pt>
    <dgm:pt modelId="{EEB95EAB-E5CC-4BF1-8E7B-E7E69AA905EC}">
      <dgm:prSet/>
      <dgm:spPr/>
      <dgm:t>
        <a:bodyPr/>
        <a:lstStyle/>
        <a:p>
          <a:r>
            <a:rPr lang="en-US" b="0" i="0" dirty="0" err="1"/>
            <a:t>Liczba</a:t>
          </a:r>
          <a:r>
            <a:rPr lang="en-US" b="0" i="0" dirty="0"/>
            <a:t> </a:t>
          </a:r>
          <a:r>
            <a:rPr lang="en-US" b="0" i="0" dirty="0" err="1"/>
            <a:t>wczytanych</a:t>
          </a:r>
          <a:r>
            <a:rPr lang="en-US" b="0" i="0" dirty="0"/>
            <a:t> </a:t>
          </a:r>
          <a:r>
            <a:rPr lang="en-US" b="0" i="0" dirty="0" err="1"/>
            <a:t>rekordów</a:t>
          </a:r>
          <a:r>
            <a:rPr lang="en-US" b="0" i="0" dirty="0"/>
            <a:t>: </a:t>
          </a:r>
          <a:r>
            <a:rPr lang="pl-PL" dirty="0"/>
            <a:t>128 347 </a:t>
          </a:r>
          <a:r>
            <a:rPr lang="en-US" b="0" i="0" dirty="0"/>
            <a:t>.</a:t>
          </a:r>
          <a:endParaRPr lang="en-US" dirty="0"/>
        </a:p>
      </dgm:t>
    </dgm:pt>
    <dgm:pt modelId="{71939289-AFDA-4529-8D84-2DCAED3BD2C3}" type="parTrans" cxnId="{0755DC3B-F135-4D68-81E1-2F7E9ED83067}">
      <dgm:prSet/>
      <dgm:spPr/>
      <dgm:t>
        <a:bodyPr/>
        <a:lstStyle/>
        <a:p>
          <a:endParaRPr lang="en-US"/>
        </a:p>
      </dgm:t>
    </dgm:pt>
    <dgm:pt modelId="{477EDF1A-2A05-4B31-BA9B-CD9B20A80575}" type="sibTrans" cxnId="{0755DC3B-F135-4D68-81E1-2F7E9ED83067}">
      <dgm:prSet/>
      <dgm:spPr/>
      <dgm:t>
        <a:bodyPr/>
        <a:lstStyle/>
        <a:p>
          <a:endParaRPr lang="en-US"/>
        </a:p>
      </dgm:t>
    </dgm:pt>
    <dgm:pt modelId="{E4E35D0A-64D4-46E3-BBE9-865BE8B97EAF}">
      <dgm:prSet/>
      <dgm:spPr/>
      <dgm:t>
        <a:bodyPr/>
        <a:lstStyle/>
        <a:p>
          <a:r>
            <a:rPr lang="en-US" b="0" i="0"/>
            <a:t>Zakres dat: 2019-01-01 – 2024-12-31.</a:t>
          </a:r>
          <a:endParaRPr lang="en-US"/>
        </a:p>
      </dgm:t>
    </dgm:pt>
    <dgm:pt modelId="{B990FC07-AA03-40F9-9FE5-0D0CF3C459B2}" type="parTrans" cxnId="{F3033B7A-DC19-4F88-9903-0A75B68EE274}">
      <dgm:prSet/>
      <dgm:spPr/>
      <dgm:t>
        <a:bodyPr/>
        <a:lstStyle/>
        <a:p>
          <a:endParaRPr lang="en-US"/>
        </a:p>
      </dgm:t>
    </dgm:pt>
    <dgm:pt modelId="{AD379308-08BC-4754-8E99-ECFA5A23E807}" type="sibTrans" cxnId="{F3033B7A-DC19-4F88-9903-0A75B68EE274}">
      <dgm:prSet/>
      <dgm:spPr/>
      <dgm:t>
        <a:bodyPr/>
        <a:lstStyle/>
        <a:p>
          <a:endParaRPr lang="en-US"/>
        </a:p>
      </dgm:t>
    </dgm:pt>
    <dgm:pt modelId="{2C109158-4AD6-4212-B439-4E5339CD661C}" type="pres">
      <dgm:prSet presAssocID="{7E2416E4-42EE-4EA6-9F95-3B061C480D28}" presName="root" presStyleCnt="0">
        <dgm:presLayoutVars>
          <dgm:dir/>
          <dgm:resizeHandles val="exact"/>
        </dgm:presLayoutVars>
      </dgm:prSet>
      <dgm:spPr/>
    </dgm:pt>
    <dgm:pt modelId="{203590D9-DB5D-419C-8681-4EC79317BBAB}" type="pres">
      <dgm:prSet presAssocID="{7E2416E4-42EE-4EA6-9F95-3B061C480D28}" presName="container" presStyleCnt="0">
        <dgm:presLayoutVars>
          <dgm:dir/>
          <dgm:resizeHandles val="exact"/>
        </dgm:presLayoutVars>
      </dgm:prSet>
      <dgm:spPr/>
    </dgm:pt>
    <dgm:pt modelId="{4438F333-C556-42A6-A894-85325D2B98A7}" type="pres">
      <dgm:prSet presAssocID="{C6DAA55D-31A5-4252-92BA-21CDE5566D27}" presName="compNode" presStyleCnt="0"/>
      <dgm:spPr/>
    </dgm:pt>
    <dgm:pt modelId="{72A183E8-8009-40E9-AD67-AEC97B57C8FB}" type="pres">
      <dgm:prSet presAssocID="{C6DAA55D-31A5-4252-92BA-21CDE5566D27}" presName="iconBgRect" presStyleLbl="bgShp" presStyleIdx="0" presStyleCnt="3"/>
      <dgm:spPr/>
    </dgm:pt>
    <dgm:pt modelId="{2BE8CF02-ECBA-4CDC-A563-4A6F7AB732A7}" type="pres">
      <dgm:prSet presAssocID="{C6DAA55D-31A5-4252-92BA-21CDE5566D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or"/>
        </a:ext>
      </dgm:extLst>
    </dgm:pt>
    <dgm:pt modelId="{092C36B8-936D-4E62-9B51-7D8A06E2AC5E}" type="pres">
      <dgm:prSet presAssocID="{C6DAA55D-31A5-4252-92BA-21CDE5566D27}" presName="spaceRect" presStyleCnt="0"/>
      <dgm:spPr/>
    </dgm:pt>
    <dgm:pt modelId="{10A85B90-0F03-4C03-B8D5-F3EAF82FFE36}" type="pres">
      <dgm:prSet presAssocID="{C6DAA55D-31A5-4252-92BA-21CDE5566D27}" presName="textRect" presStyleLbl="revTx" presStyleIdx="0" presStyleCnt="3">
        <dgm:presLayoutVars>
          <dgm:chMax val="1"/>
          <dgm:chPref val="1"/>
        </dgm:presLayoutVars>
      </dgm:prSet>
      <dgm:spPr/>
    </dgm:pt>
    <dgm:pt modelId="{72062E3D-5433-40CB-9A29-534A1EDBE32A}" type="pres">
      <dgm:prSet presAssocID="{5826CFA6-FFB0-4E6E-B3F3-68C5AF1A4C2A}" presName="sibTrans" presStyleLbl="sibTrans2D1" presStyleIdx="0" presStyleCnt="0"/>
      <dgm:spPr/>
    </dgm:pt>
    <dgm:pt modelId="{C3539A01-637C-4B3A-BC1E-7A5E1E38C66B}" type="pres">
      <dgm:prSet presAssocID="{EEB95EAB-E5CC-4BF1-8E7B-E7E69AA905EC}" presName="compNode" presStyleCnt="0"/>
      <dgm:spPr/>
    </dgm:pt>
    <dgm:pt modelId="{5FBBCC28-D984-4BFC-8D00-06F1CEA25DDB}" type="pres">
      <dgm:prSet presAssocID="{EEB95EAB-E5CC-4BF1-8E7B-E7E69AA905EC}" presName="iconBgRect" presStyleLbl="bgShp" presStyleIdx="1" presStyleCnt="3"/>
      <dgm:spPr/>
    </dgm:pt>
    <dgm:pt modelId="{1D86B2F0-C3B2-4B6C-9C00-BD884589977E}" type="pres">
      <dgm:prSet presAssocID="{EEB95EAB-E5CC-4BF1-8E7B-E7E69AA905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pisy"/>
        </a:ext>
      </dgm:extLst>
    </dgm:pt>
    <dgm:pt modelId="{D1B5E632-9486-4A83-91FB-1250153A79A9}" type="pres">
      <dgm:prSet presAssocID="{EEB95EAB-E5CC-4BF1-8E7B-E7E69AA905EC}" presName="spaceRect" presStyleCnt="0"/>
      <dgm:spPr/>
    </dgm:pt>
    <dgm:pt modelId="{59A93F82-979B-4511-9D09-72C4DC1CEF0A}" type="pres">
      <dgm:prSet presAssocID="{EEB95EAB-E5CC-4BF1-8E7B-E7E69AA905EC}" presName="textRect" presStyleLbl="revTx" presStyleIdx="1" presStyleCnt="3">
        <dgm:presLayoutVars>
          <dgm:chMax val="1"/>
          <dgm:chPref val="1"/>
        </dgm:presLayoutVars>
      </dgm:prSet>
      <dgm:spPr/>
    </dgm:pt>
    <dgm:pt modelId="{7E8EC027-D354-41AE-B27E-B91014DAC911}" type="pres">
      <dgm:prSet presAssocID="{477EDF1A-2A05-4B31-BA9B-CD9B20A80575}" presName="sibTrans" presStyleLbl="sibTrans2D1" presStyleIdx="0" presStyleCnt="0"/>
      <dgm:spPr/>
    </dgm:pt>
    <dgm:pt modelId="{91EB6016-DF66-40D0-8835-07571A803E22}" type="pres">
      <dgm:prSet presAssocID="{E4E35D0A-64D4-46E3-BBE9-865BE8B97EAF}" presName="compNode" presStyleCnt="0"/>
      <dgm:spPr/>
    </dgm:pt>
    <dgm:pt modelId="{C43CF37A-5C72-4551-80ED-5E8C737AD07A}" type="pres">
      <dgm:prSet presAssocID="{E4E35D0A-64D4-46E3-BBE9-865BE8B97EAF}" presName="iconBgRect" presStyleLbl="bgShp" presStyleIdx="2" presStyleCnt="3"/>
      <dgm:spPr/>
    </dgm:pt>
    <dgm:pt modelId="{EF7E1263-DF80-4A96-8313-C64B6FA93FFA}" type="pres">
      <dgm:prSet presAssocID="{E4E35D0A-64D4-46E3-BBE9-865BE8B97E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23BA27C-0CF8-468D-B580-EE402BB99FFA}" type="pres">
      <dgm:prSet presAssocID="{E4E35D0A-64D4-46E3-BBE9-865BE8B97EAF}" presName="spaceRect" presStyleCnt="0"/>
      <dgm:spPr/>
    </dgm:pt>
    <dgm:pt modelId="{DB34C871-FF8F-4F91-9238-3E678C9B5CEB}" type="pres">
      <dgm:prSet presAssocID="{E4E35D0A-64D4-46E3-BBE9-865BE8B97EA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4085A04-0625-498A-9879-EC233596F824}" srcId="{7E2416E4-42EE-4EA6-9F95-3B061C480D28}" destId="{C6DAA55D-31A5-4252-92BA-21CDE5566D27}" srcOrd="0" destOrd="0" parTransId="{C3947877-62ED-4DB6-B2E2-637397FC0C41}" sibTransId="{5826CFA6-FFB0-4E6E-B3F3-68C5AF1A4C2A}"/>
    <dgm:cxn modelId="{0755DC3B-F135-4D68-81E1-2F7E9ED83067}" srcId="{7E2416E4-42EE-4EA6-9F95-3B061C480D28}" destId="{EEB95EAB-E5CC-4BF1-8E7B-E7E69AA905EC}" srcOrd="1" destOrd="0" parTransId="{71939289-AFDA-4529-8D84-2DCAED3BD2C3}" sibTransId="{477EDF1A-2A05-4B31-BA9B-CD9B20A80575}"/>
    <dgm:cxn modelId="{39E8233F-CE98-4E25-A5BF-31B9B8D1B9E1}" type="presOf" srcId="{C6DAA55D-31A5-4252-92BA-21CDE5566D27}" destId="{10A85B90-0F03-4C03-B8D5-F3EAF82FFE36}" srcOrd="0" destOrd="0" presId="urn:microsoft.com/office/officeart/2018/2/layout/IconCircleList"/>
    <dgm:cxn modelId="{EAA6C86D-77BF-4CA0-BE99-B6E89CB4FB59}" type="presOf" srcId="{E4E35D0A-64D4-46E3-BBE9-865BE8B97EAF}" destId="{DB34C871-FF8F-4F91-9238-3E678C9B5CEB}" srcOrd="0" destOrd="0" presId="urn:microsoft.com/office/officeart/2018/2/layout/IconCircleList"/>
    <dgm:cxn modelId="{4C299750-233C-4520-8F2F-615E190A0B86}" type="presOf" srcId="{477EDF1A-2A05-4B31-BA9B-CD9B20A80575}" destId="{7E8EC027-D354-41AE-B27E-B91014DAC911}" srcOrd="0" destOrd="0" presId="urn:microsoft.com/office/officeart/2018/2/layout/IconCircleList"/>
    <dgm:cxn modelId="{F3033B7A-DC19-4F88-9903-0A75B68EE274}" srcId="{7E2416E4-42EE-4EA6-9F95-3B061C480D28}" destId="{E4E35D0A-64D4-46E3-BBE9-865BE8B97EAF}" srcOrd="2" destOrd="0" parTransId="{B990FC07-AA03-40F9-9FE5-0D0CF3C459B2}" sibTransId="{AD379308-08BC-4754-8E99-ECFA5A23E807}"/>
    <dgm:cxn modelId="{217D41DF-1B9B-4C5D-9CD0-E32C554F47AE}" type="presOf" srcId="{5826CFA6-FFB0-4E6E-B3F3-68C5AF1A4C2A}" destId="{72062E3D-5433-40CB-9A29-534A1EDBE32A}" srcOrd="0" destOrd="0" presId="urn:microsoft.com/office/officeart/2018/2/layout/IconCircleList"/>
    <dgm:cxn modelId="{91764CDF-AE1C-41CA-B610-ABC94DBA0BB6}" type="presOf" srcId="{7E2416E4-42EE-4EA6-9F95-3B061C480D28}" destId="{2C109158-4AD6-4212-B439-4E5339CD661C}" srcOrd="0" destOrd="0" presId="urn:microsoft.com/office/officeart/2018/2/layout/IconCircleList"/>
    <dgm:cxn modelId="{FE05F2E4-3B57-4732-8725-CDF376499CC9}" type="presOf" srcId="{EEB95EAB-E5CC-4BF1-8E7B-E7E69AA905EC}" destId="{59A93F82-979B-4511-9D09-72C4DC1CEF0A}" srcOrd="0" destOrd="0" presId="urn:microsoft.com/office/officeart/2018/2/layout/IconCircleList"/>
    <dgm:cxn modelId="{36DCC932-A9E3-4CD7-BB80-EA9C6020C769}" type="presParOf" srcId="{2C109158-4AD6-4212-B439-4E5339CD661C}" destId="{203590D9-DB5D-419C-8681-4EC79317BBAB}" srcOrd="0" destOrd="0" presId="urn:microsoft.com/office/officeart/2018/2/layout/IconCircleList"/>
    <dgm:cxn modelId="{689FB616-987C-4213-AF40-76EB5BB312E1}" type="presParOf" srcId="{203590D9-DB5D-419C-8681-4EC79317BBAB}" destId="{4438F333-C556-42A6-A894-85325D2B98A7}" srcOrd="0" destOrd="0" presId="urn:microsoft.com/office/officeart/2018/2/layout/IconCircleList"/>
    <dgm:cxn modelId="{0D914DAF-4ACA-4495-868B-F5A7A5B5E6B0}" type="presParOf" srcId="{4438F333-C556-42A6-A894-85325D2B98A7}" destId="{72A183E8-8009-40E9-AD67-AEC97B57C8FB}" srcOrd="0" destOrd="0" presId="urn:microsoft.com/office/officeart/2018/2/layout/IconCircleList"/>
    <dgm:cxn modelId="{A264885D-72EC-4864-B9F4-4B4DDF4C94F3}" type="presParOf" srcId="{4438F333-C556-42A6-A894-85325D2B98A7}" destId="{2BE8CF02-ECBA-4CDC-A563-4A6F7AB732A7}" srcOrd="1" destOrd="0" presId="urn:microsoft.com/office/officeart/2018/2/layout/IconCircleList"/>
    <dgm:cxn modelId="{887DA6C5-4AF2-4BCE-B973-D2DC0F86E52C}" type="presParOf" srcId="{4438F333-C556-42A6-A894-85325D2B98A7}" destId="{092C36B8-936D-4E62-9B51-7D8A06E2AC5E}" srcOrd="2" destOrd="0" presId="urn:microsoft.com/office/officeart/2018/2/layout/IconCircleList"/>
    <dgm:cxn modelId="{84B6429E-CB80-411A-B6D2-023028CF58A4}" type="presParOf" srcId="{4438F333-C556-42A6-A894-85325D2B98A7}" destId="{10A85B90-0F03-4C03-B8D5-F3EAF82FFE36}" srcOrd="3" destOrd="0" presId="urn:microsoft.com/office/officeart/2018/2/layout/IconCircleList"/>
    <dgm:cxn modelId="{F673265C-967E-4CF7-A567-0E23B655DA0E}" type="presParOf" srcId="{203590D9-DB5D-419C-8681-4EC79317BBAB}" destId="{72062E3D-5433-40CB-9A29-534A1EDBE32A}" srcOrd="1" destOrd="0" presId="urn:microsoft.com/office/officeart/2018/2/layout/IconCircleList"/>
    <dgm:cxn modelId="{1FC4A5C0-FF40-47A6-B792-089D5ACD66CF}" type="presParOf" srcId="{203590D9-DB5D-419C-8681-4EC79317BBAB}" destId="{C3539A01-637C-4B3A-BC1E-7A5E1E38C66B}" srcOrd="2" destOrd="0" presId="urn:microsoft.com/office/officeart/2018/2/layout/IconCircleList"/>
    <dgm:cxn modelId="{3FC1B3F8-E252-4F16-97E9-DD5F451105B1}" type="presParOf" srcId="{C3539A01-637C-4B3A-BC1E-7A5E1E38C66B}" destId="{5FBBCC28-D984-4BFC-8D00-06F1CEA25DDB}" srcOrd="0" destOrd="0" presId="urn:microsoft.com/office/officeart/2018/2/layout/IconCircleList"/>
    <dgm:cxn modelId="{775DA803-7AE7-47DD-A579-253657CD784A}" type="presParOf" srcId="{C3539A01-637C-4B3A-BC1E-7A5E1E38C66B}" destId="{1D86B2F0-C3B2-4B6C-9C00-BD884589977E}" srcOrd="1" destOrd="0" presId="urn:microsoft.com/office/officeart/2018/2/layout/IconCircleList"/>
    <dgm:cxn modelId="{1AC3D166-89CA-494F-A51B-F3303B0DFA7A}" type="presParOf" srcId="{C3539A01-637C-4B3A-BC1E-7A5E1E38C66B}" destId="{D1B5E632-9486-4A83-91FB-1250153A79A9}" srcOrd="2" destOrd="0" presId="urn:microsoft.com/office/officeart/2018/2/layout/IconCircleList"/>
    <dgm:cxn modelId="{F9B41FB3-8ACD-4FE0-9035-EF496A14AD16}" type="presParOf" srcId="{C3539A01-637C-4B3A-BC1E-7A5E1E38C66B}" destId="{59A93F82-979B-4511-9D09-72C4DC1CEF0A}" srcOrd="3" destOrd="0" presId="urn:microsoft.com/office/officeart/2018/2/layout/IconCircleList"/>
    <dgm:cxn modelId="{A2CA3258-1B9F-4BCD-914E-3FE2017668D8}" type="presParOf" srcId="{203590D9-DB5D-419C-8681-4EC79317BBAB}" destId="{7E8EC027-D354-41AE-B27E-B91014DAC911}" srcOrd="3" destOrd="0" presId="urn:microsoft.com/office/officeart/2018/2/layout/IconCircleList"/>
    <dgm:cxn modelId="{E287AAE5-C248-44C3-8E3E-1E11C1096A05}" type="presParOf" srcId="{203590D9-DB5D-419C-8681-4EC79317BBAB}" destId="{91EB6016-DF66-40D0-8835-07571A803E22}" srcOrd="4" destOrd="0" presId="urn:microsoft.com/office/officeart/2018/2/layout/IconCircleList"/>
    <dgm:cxn modelId="{0957AF9D-E0A1-4C8F-A359-CAE52105A960}" type="presParOf" srcId="{91EB6016-DF66-40D0-8835-07571A803E22}" destId="{C43CF37A-5C72-4551-80ED-5E8C737AD07A}" srcOrd="0" destOrd="0" presId="urn:microsoft.com/office/officeart/2018/2/layout/IconCircleList"/>
    <dgm:cxn modelId="{09F1B9B8-4A08-494B-AF6D-C35A7F2E4CCE}" type="presParOf" srcId="{91EB6016-DF66-40D0-8835-07571A803E22}" destId="{EF7E1263-DF80-4A96-8313-C64B6FA93FFA}" srcOrd="1" destOrd="0" presId="urn:microsoft.com/office/officeart/2018/2/layout/IconCircleList"/>
    <dgm:cxn modelId="{7391B40F-81D5-4E17-B31E-397F803EFC76}" type="presParOf" srcId="{91EB6016-DF66-40D0-8835-07571A803E22}" destId="{C23BA27C-0CF8-468D-B580-EE402BB99FFA}" srcOrd="2" destOrd="0" presId="urn:microsoft.com/office/officeart/2018/2/layout/IconCircleList"/>
    <dgm:cxn modelId="{AE463150-9087-4B70-8B7E-3EBBB9C54EA4}" type="presParOf" srcId="{91EB6016-DF66-40D0-8835-07571A803E22}" destId="{DB34C871-FF8F-4F91-9238-3E678C9B5CE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D7651B-E021-4323-8F39-44DE581C58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4C17082-1C74-4A8B-B5DF-679A81125ACF}">
      <dgm:prSet/>
      <dgm:spPr/>
      <dgm:t>
        <a:bodyPr/>
        <a:lstStyle/>
        <a:p>
          <a:r>
            <a:rPr lang="en-US" b="0" i="0"/>
            <a:t>Wczytanie danych wejściowych i konfiguracji.</a:t>
          </a:r>
          <a:endParaRPr lang="en-US"/>
        </a:p>
      </dgm:t>
    </dgm:pt>
    <dgm:pt modelId="{A2B3BF4B-2334-4FB5-80C7-E8AD1C1B3B57}" type="parTrans" cxnId="{E5C37D1A-F181-4572-AD24-B7983ADE984F}">
      <dgm:prSet/>
      <dgm:spPr/>
      <dgm:t>
        <a:bodyPr/>
        <a:lstStyle/>
        <a:p>
          <a:endParaRPr lang="en-US"/>
        </a:p>
      </dgm:t>
    </dgm:pt>
    <dgm:pt modelId="{6488D3FA-2EE5-4D19-9602-A3DB2C87647E}" type="sibTrans" cxnId="{E5C37D1A-F181-4572-AD24-B7983ADE984F}">
      <dgm:prSet/>
      <dgm:spPr/>
      <dgm:t>
        <a:bodyPr/>
        <a:lstStyle/>
        <a:p>
          <a:endParaRPr lang="en-US"/>
        </a:p>
      </dgm:t>
    </dgm:pt>
    <dgm:pt modelId="{D691343D-8B76-4E20-B556-C0837F6E9810}">
      <dgm:prSet/>
      <dgm:spPr/>
      <dgm:t>
        <a:bodyPr/>
        <a:lstStyle/>
        <a:p>
          <a:r>
            <a:rPr lang="en-US" b="0" i="0"/>
            <a:t>Podział danych na zbiór treningowy i testowy.</a:t>
          </a:r>
          <a:endParaRPr lang="en-US"/>
        </a:p>
      </dgm:t>
    </dgm:pt>
    <dgm:pt modelId="{874C53AA-288B-4627-931A-C97DAB7A5CC1}" type="parTrans" cxnId="{4AE59BF1-3C89-4F58-AC9A-5B101A8A2493}">
      <dgm:prSet/>
      <dgm:spPr/>
      <dgm:t>
        <a:bodyPr/>
        <a:lstStyle/>
        <a:p>
          <a:endParaRPr lang="en-US"/>
        </a:p>
      </dgm:t>
    </dgm:pt>
    <dgm:pt modelId="{9E37DCBA-70C5-4C23-BA8C-87331BDEF210}" type="sibTrans" cxnId="{4AE59BF1-3C89-4F58-AC9A-5B101A8A2493}">
      <dgm:prSet/>
      <dgm:spPr/>
      <dgm:t>
        <a:bodyPr/>
        <a:lstStyle/>
        <a:p>
          <a:endParaRPr lang="en-US"/>
        </a:p>
      </dgm:t>
    </dgm:pt>
    <dgm:pt modelId="{15D2ACFE-7769-4403-A7A0-2750799C5C25}">
      <dgm:prSet/>
      <dgm:spPr/>
      <dgm:t>
        <a:bodyPr/>
        <a:lstStyle/>
        <a:p>
          <a:r>
            <a:rPr lang="en-US" b="0" i="0"/>
            <a:t>Trenowanie modelu, obliczenie metryk oraz zapis wyników do plików </a:t>
          </a:r>
          <a:endParaRPr lang="en-US"/>
        </a:p>
      </dgm:t>
    </dgm:pt>
    <dgm:pt modelId="{DF8076FE-EBEF-410A-834D-81F1144E9D07}" type="parTrans" cxnId="{49A26934-3E20-45E8-9C75-67BF11D68071}">
      <dgm:prSet/>
      <dgm:spPr/>
      <dgm:t>
        <a:bodyPr/>
        <a:lstStyle/>
        <a:p>
          <a:endParaRPr lang="en-US"/>
        </a:p>
      </dgm:t>
    </dgm:pt>
    <dgm:pt modelId="{6F297AB9-71BC-451A-A375-B569B17E8E5B}" type="sibTrans" cxnId="{49A26934-3E20-45E8-9C75-67BF11D68071}">
      <dgm:prSet/>
      <dgm:spPr/>
      <dgm:t>
        <a:bodyPr/>
        <a:lstStyle/>
        <a:p>
          <a:endParaRPr lang="en-US"/>
        </a:p>
      </dgm:t>
    </dgm:pt>
    <dgm:pt modelId="{03F3D98B-3FFE-4E40-9A30-84434C68D3FA}" type="pres">
      <dgm:prSet presAssocID="{E2D7651B-E021-4323-8F39-44DE581C58DF}" presName="root" presStyleCnt="0">
        <dgm:presLayoutVars>
          <dgm:dir/>
          <dgm:resizeHandles val="exact"/>
        </dgm:presLayoutVars>
      </dgm:prSet>
      <dgm:spPr/>
    </dgm:pt>
    <dgm:pt modelId="{55CBE267-53C6-4801-BFB9-3B22E1D07E15}" type="pres">
      <dgm:prSet presAssocID="{24C17082-1C74-4A8B-B5DF-679A81125ACF}" presName="compNode" presStyleCnt="0"/>
      <dgm:spPr/>
    </dgm:pt>
    <dgm:pt modelId="{E13F5F32-D88D-433A-AE6E-31CC25EBFDBB}" type="pres">
      <dgm:prSet presAssocID="{24C17082-1C74-4A8B-B5DF-679A81125ACF}" presName="bgRect" presStyleLbl="bgShp" presStyleIdx="0" presStyleCnt="3"/>
      <dgm:spPr/>
    </dgm:pt>
    <dgm:pt modelId="{73F346C0-4990-476E-9479-6FD16AE37335}" type="pres">
      <dgm:prSet presAssocID="{24C17082-1C74-4A8B-B5DF-679A81125AC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E6CDA2C7-3008-4D70-A280-457809155467}" type="pres">
      <dgm:prSet presAssocID="{24C17082-1C74-4A8B-B5DF-679A81125ACF}" presName="spaceRect" presStyleCnt="0"/>
      <dgm:spPr/>
    </dgm:pt>
    <dgm:pt modelId="{48C4958E-A42E-4661-8E8F-B9F971764695}" type="pres">
      <dgm:prSet presAssocID="{24C17082-1C74-4A8B-B5DF-679A81125ACF}" presName="parTx" presStyleLbl="revTx" presStyleIdx="0" presStyleCnt="3">
        <dgm:presLayoutVars>
          <dgm:chMax val="0"/>
          <dgm:chPref val="0"/>
        </dgm:presLayoutVars>
      </dgm:prSet>
      <dgm:spPr/>
    </dgm:pt>
    <dgm:pt modelId="{B81BED02-4D7B-446C-B6FF-0D088E5A9BEE}" type="pres">
      <dgm:prSet presAssocID="{6488D3FA-2EE5-4D19-9602-A3DB2C87647E}" presName="sibTrans" presStyleCnt="0"/>
      <dgm:spPr/>
    </dgm:pt>
    <dgm:pt modelId="{8F650DE5-27E8-4696-8095-8FCB47911716}" type="pres">
      <dgm:prSet presAssocID="{D691343D-8B76-4E20-B556-C0837F6E9810}" presName="compNode" presStyleCnt="0"/>
      <dgm:spPr/>
    </dgm:pt>
    <dgm:pt modelId="{EA0FB0F7-A510-4CB9-9CD4-2389CE84BF6F}" type="pres">
      <dgm:prSet presAssocID="{D691343D-8B76-4E20-B556-C0837F6E9810}" presName="bgRect" presStyleLbl="bgShp" presStyleIdx="1" presStyleCnt="3"/>
      <dgm:spPr/>
    </dgm:pt>
    <dgm:pt modelId="{F5EE6249-F45C-403F-8517-A2FE19DD347C}" type="pres">
      <dgm:prSet presAssocID="{D691343D-8B76-4E20-B556-C0837F6E981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s"/>
        </a:ext>
      </dgm:extLst>
    </dgm:pt>
    <dgm:pt modelId="{6D94352B-CA92-44EA-A67B-62F5EC5668BE}" type="pres">
      <dgm:prSet presAssocID="{D691343D-8B76-4E20-B556-C0837F6E9810}" presName="spaceRect" presStyleCnt="0"/>
      <dgm:spPr/>
    </dgm:pt>
    <dgm:pt modelId="{23E20410-96F8-430B-885F-763729E164C2}" type="pres">
      <dgm:prSet presAssocID="{D691343D-8B76-4E20-B556-C0837F6E9810}" presName="parTx" presStyleLbl="revTx" presStyleIdx="1" presStyleCnt="3">
        <dgm:presLayoutVars>
          <dgm:chMax val="0"/>
          <dgm:chPref val="0"/>
        </dgm:presLayoutVars>
      </dgm:prSet>
      <dgm:spPr/>
    </dgm:pt>
    <dgm:pt modelId="{843AC1DB-A44C-4D81-80EA-7619C051F8D2}" type="pres">
      <dgm:prSet presAssocID="{9E37DCBA-70C5-4C23-BA8C-87331BDEF210}" presName="sibTrans" presStyleCnt="0"/>
      <dgm:spPr/>
    </dgm:pt>
    <dgm:pt modelId="{9E90F890-BB7C-4159-96C5-69D91CD8C4A6}" type="pres">
      <dgm:prSet presAssocID="{15D2ACFE-7769-4403-A7A0-2750799C5C25}" presName="compNode" presStyleCnt="0"/>
      <dgm:spPr/>
    </dgm:pt>
    <dgm:pt modelId="{EE371B0F-F297-4D4C-BF48-5D9D515C7003}" type="pres">
      <dgm:prSet presAssocID="{15D2ACFE-7769-4403-A7A0-2750799C5C25}" presName="bgRect" presStyleLbl="bgShp" presStyleIdx="2" presStyleCnt="3"/>
      <dgm:spPr/>
    </dgm:pt>
    <dgm:pt modelId="{1E533829-8747-420D-9D3F-074B22B7E8D6}" type="pres">
      <dgm:prSet presAssocID="{15D2ACFE-7769-4403-A7A0-2750799C5C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alkulator"/>
        </a:ext>
      </dgm:extLst>
    </dgm:pt>
    <dgm:pt modelId="{96E732F5-C6DC-42D7-9FBF-AE9B01A855C8}" type="pres">
      <dgm:prSet presAssocID="{15D2ACFE-7769-4403-A7A0-2750799C5C25}" presName="spaceRect" presStyleCnt="0"/>
      <dgm:spPr/>
    </dgm:pt>
    <dgm:pt modelId="{70411771-59BB-4B56-9B8B-85580552785E}" type="pres">
      <dgm:prSet presAssocID="{15D2ACFE-7769-4403-A7A0-2750799C5C2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243700-8A70-414F-AB1F-182E06694282}" type="presOf" srcId="{24C17082-1C74-4A8B-B5DF-679A81125ACF}" destId="{48C4958E-A42E-4661-8E8F-B9F971764695}" srcOrd="0" destOrd="0" presId="urn:microsoft.com/office/officeart/2018/2/layout/IconVerticalSolidList"/>
    <dgm:cxn modelId="{E5C37D1A-F181-4572-AD24-B7983ADE984F}" srcId="{E2D7651B-E021-4323-8F39-44DE581C58DF}" destId="{24C17082-1C74-4A8B-B5DF-679A81125ACF}" srcOrd="0" destOrd="0" parTransId="{A2B3BF4B-2334-4FB5-80C7-E8AD1C1B3B57}" sibTransId="{6488D3FA-2EE5-4D19-9602-A3DB2C87647E}"/>
    <dgm:cxn modelId="{49A26934-3E20-45E8-9C75-67BF11D68071}" srcId="{E2D7651B-E021-4323-8F39-44DE581C58DF}" destId="{15D2ACFE-7769-4403-A7A0-2750799C5C25}" srcOrd="2" destOrd="0" parTransId="{DF8076FE-EBEF-410A-834D-81F1144E9D07}" sibTransId="{6F297AB9-71BC-451A-A375-B569B17E8E5B}"/>
    <dgm:cxn modelId="{31C5F29F-4CAE-4246-A787-7E0564164872}" type="presOf" srcId="{D691343D-8B76-4E20-B556-C0837F6E9810}" destId="{23E20410-96F8-430B-885F-763729E164C2}" srcOrd="0" destOrd="0" presId="urn:microsoft.com/office/officeart/2018/2/layout/IconVerticalSolidList"/>
    <dgm:cxn modelId="{9F44CFB9-C61F-4A14-B847-EC2C46BC9FAF}" type="presOf" srcId="{E2D7651B-E021-4323-8F39-44DE581C58DF}" destId="{03F3D98B-3FFE-4E40-9A30-84434C68D3FA}" srcOrd="0" destOrd="0" presId="urn:microsoft.com/office/officeart/2018/2/layout/IconVerticalSolidList"/>
    <dgm:cxn modelId="{8C418DDD-903C-46C3-A507-514846C8CE34}" type="presOf" srcId="{15D2ACFE-7769-4403-A7A0-2750799C5C25}" destId="{70411771-59BB-4B56-9B8B-85580552785E}" srcOrd="0" destOrd="0" presId="urn:microsoft.com/office/officeart/2018/2/layout/IconVerticalSolidList"/>
    <dgm:cxn modelId="{4AE59BF1-3C89-4F58-AC9A-5B101A8A2493}" srcId="{E2D7651B-E021-4323-8F39-44DE581C58DF}" destId="{D691343D-8B76-4E20-B556-C0837F6E9810}" srcOrd="1" destOrd="0" parTransId="{874C53AA-288B-4627-931A-C97DAB7A5CC1}" sibTransId="{9E37DCBA-70C5-4C23-BA8C-87331BDEF210}"/>
    <dgm:cxn modelId="{9E14EC32-14AF-42E9-A4C4-E94C44B53791}" type="presParOf" srcId="{03F3D98B-3FFE-4E40-9A30-84434C68D3FA}" destId="{55CBE267-53C6-4801-BFB9-3B22E1D07E15}" srcOrd="0" destOrd="0" presId="urn:microsoft.com/office/officeart/2018/2/layout/IconVerticalSolidList"/>
    <dgm:cxn modelId="{DE498A6E-56C3-4D4D-96BF-5049817EB8FD}" type="presParOf" srcId="{55CBE267-53C6-4801-BFB9-3B22E1D07E15}" destId="{E13F5F32-D88D-433A-AE6E-31CC25EBFDBB}" srcOrd="0" destOrd="0" presId="urn:microsoft.com/office/officeart/2018/2/layout/IconVerticalSolidList"/>
    <dgm:cxn modelId="{84C13628-E60D-4AAD-871D-5661D190DB62}" type="presParOf" srcId="{55CBE267-53C6-4801-BFB9-3B22E1D07E15}" destId="{73F346C0-4990-476E-9479-6FD16AE37335}" srcOrd="1" destOrd="0" presId="urn:microsoft.com/office/officeart/2018/2/layout/IconVerticalSolidList"/>
    <dgm:cxn modelId="{8F75919A-99E4-41E7-B220-6EEAB21FC608}" type="presParOf" srcId="{55CBE267-53C6-4801-BFB9-3B22E1D07E15}" destId="{E6CDA2C7-3008-4D70-A280-457809155467}" srcOrd="2" destOrd="0" presId="urn:microsoft.com/office/officeart/2018/2/layout/IconVerticalSolidList"/>
    <dgm:cxn modelId="{5AF84D02-5A85-445C-92A0-AB9796FC83B1}" type="presParOf" srcId="{55CBE267-53C6-4801-BFB9-3B22E1D07E15}" destId="{48C4958E-A42E-4661-8E8F-B9F971764695}" srcOrd="3" destOrd="0" presId="urn:microsoft.com/office/officeart/2018/2/layout/IconVerticalSolidList"/>
    <dgm:cxn modelId="{8800BD8F-F8E7-41F8-BCE6-EC070E068CB4}" type="presParOf" srcId="{03F3D98B-3FFE-4E40-9A30-84434C68D3FA}" destId="{B81BED02-4D7B-446C-B6FF-0D088E5A9BEE}" srcOrd="1" destOrd="0" presId="urn:microsoft.com/office/officeart/2018/2/layout/IconVerticalSolidList"/>
    <dgm:cxn modelId="{CB0160C9-E34B-4275-A787-4A1DD754AF91}" type="presParOf" srcId="{03F3D98B-3FFE-4E40-9A30-84434C68D3FA}" destId="{8F650DE5-27E8-4696-8095-8FCB47911716}" srcOrd="2" destOrd="0" presId="urn:microsoft.com/office/officeart/2018/2/layout/IconVerticalSolidList"/>
    <dgm:cxn modelId="{58F8348D-81BF-43AD-9BFE-EB18C5CAE20D}" type="presParOf" srcId="{8F650DE5-27E8-4696-8095-8FCB47911716}" destId="{EA0FB0F7-A510-4CB9-9CD4-2389CE84BF6F}" srcOrd="0" destOrd="0" presId="urn:microsoft.com/office/officeart/2018/2/layout/IconVerticalSolidList"/>
    <dgm:cxn modelId="{2AAFED15-6E6E-4E6E-B3C0-8EBEA27A5A9C}" type="presParOf" srcId="{8F650DE5-27E8-4696-8095-8FCB47911716}" destId="{F5EE6249-F45C-403F-8517-A2FE19DD347C}" srcOrd="1" destOrd="0" presId="urn:microsoft.com/office/officeart/2018/2/layout/IconVerticalSolidList"/>
    <dgm:cxn modelId="{4028C1D2-C85E-4326-BBE8-184699875AA5}" type="presParOf" srcId="{8F650DE5-27E8-4696-8095-8FCB47911716}" destId="{6D94352B-CA92-44EA-A67B-62F5EC5668BE}" srcOrd="2" destOrd="0" presId="urn:microsoft.com/office/officeart/2018/2/layout/IconVerticalSolidList"/>
    <dgm:cxn modelId="{7C9FFB1D-0A10-4907-A3A3-4A7C537D67C2}" type="presParOf" srcId="{8F650DE5-27E8-4696-8095-8FCB47911716}" destId="{23E20410-96F8-430B-885F-763729E164C2}" srcOrd="3" destOrd="0" presId="urn:microsoft.com/office/officeart/2018/2/layout/IconVerticalSolidList"/>
    <dgm:cxn modelId="{49E00CD8-084D-4BF7-A7B8-E9EBB77F8449}" type="presParOf" srcId="{03F3D98B-3FFE-4E40-9A30-84434C68D3FA}" destId="{843AC1DB-A44C-4D81-80EA-7619C051F8D2}" srcOrd="3" destOrd="0" presId="urn:microsoft.com/office/officeart/2018/2/layout/IconVerticalSolidList"/>
    <dgm:cxn modelId="{1C02A193-C666-4863-B35B-9E1593E13514}" type="presParOf" srcId="{03F3D98B-3FFE-4E40-9A30-84434C68D3FA}" destId="{9E90F890-BB7C-4159-96C5-69D91CD8C4A6}" srcOrd="4" destOrd="0" presId="urn:microsoft.com/office/officeart/2018/2/layout/IconVerticalSolidList"/>
    <dgm:cxn modelId="{D6F2BFD7-038D-42D3-A71E-8664791A5D2F}" type="presParOf" srcId="{9E90F890-BB7C-4159-96C5-69D91CD8C4A6}" destId="{EE371B0F-F297-4D4C-BF48-5D9D515C7003}" srcOrd="0" destOrd="0" presId="urn:microsoft.com/office/officeart/2018/2/layout/IconVerticalSolidList"/>
    <dgm:cxn modelId="{2CFF601A-B259-4FBA-9152-62287EC98FEE}" type="presParOf" srcId="{9E90F890-BB7C-4159-96C5-69D91CD8C4A6}" destId="{1E533829-8747-420D-9D3F-074B22B7E8D6}" srcOrd="1" destOrd="0" presId="urn:microsoft.com/office/officeart/2018/2/layout/IconVerticalSolidList"/>
    <dgm:cxn modelId="{23538089-AE24-46FE-A2CE-95F5C801169E}" type="presParOf" srcId="{9E90F890-BB7C-4159-96C5-69D91CD8C4A6}" destId="{96E732F5-C6DC-42D7-9FBF-AE9B01A855C8}" srcOrd="2" destOrd="0" presId="urn:microsoft.com/office/officeart/2018/2/layout/IconVerticalSolidList"/>
    <dgm:cxn modelId="{2C5A6B3D-DC93-4DC4-9212-2F4E22811EEC}" type="presParOf" srcId="{9E90F890-BB7C-4159-96C5-69D91CD8C4A6}" destId="{70411771-59BB-4B56-9B8B-8558055278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A183E8-8009-40E9-AD67-AEC97B57C8FB}">
      <dsp:nvSpPr>
        <dsp:cNvPr id="0" name=""/>
        <dsp:cNvSpPr/>
      </dsp:nvSpPr>
      <dsp:spPr>
        <a:xfrm>
          <a:off x="293969" y="1373438"/>
          <a:ext cx="657400" cy="6574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E8CF02-ECBA-4CDC-A563-4A6F7AB732A7}">
      <dsp:nvSpPr>
        <dsp:cNvPr id="0" name=""/>
        <dsp:cNvSpPr/>
      </dsp:nvSpPr>
      <dsp:spPr>
        <a:xfrm>
          <a:off x="432023" y="1511492"/>
          <a:ext cx="381292" cy="381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A85B90-0F03-4C03-B8D5-F3EAF82FFE36}">
      <dsp:nvSpPr>
        <dsp:cNvPr id="0" name=""/>
        <dsp:cNvSpPr/>
      </dsp:nvSpPr>
      <dsp:spPr>
        <a:xfrm>
          <a:off x="1092242" y="1373438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Dane pogodowe (pomiarowe) z 59 stacji meteorologicznych na terenie Polski.</a:t>
          </a:r>
          <a:endParaRPr lang="en-US" sz="1100" kern="1200"/>
        </a:p>
      </dsp:txBody>
      <dsp:txXfrm>
        <a:off x="1092242" y="1373438"/>
        <a:ext cx="1549587" cy="657400"/>
      </dsp:txXfrm>
    </dsp:sp>
    <dsp:sp modelId="{5FBBCC28-D984-4BFC-8D00-06F1CEA25DDB}">
      <dsp:nvSpPr>
        <dsp:cNvPr id="0" name=""/>
        <dsp:cNvSpPr/>
      </dsp:nvSpPr>
      <dsp:spPr>
        <a:xfrm>
          <a:off x="2911833" y="1373438"/>
          <a:ext cx="657400" cy="6574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86B2F0-C3B2-4B6C-9C00-BD884589977E}">
      <dsp:nvSpPr>
        <dsp:cNvPr id="0" name=""/>
        <dsp:cNvSpPr/>
      </dsp:nvSpPr>
      <dsp:spPr>
        <a:xfrm>
          <a:off x="3049888" y="1511492"/>
          <a:ext cx="381292" cy="3812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93F82-979B-4511-9D09-72C4DC1CEF0A}">
      <dsp:nvSpPr>
        <dsp:cNvPr id="0" name=""/>
        <dsp:cNvSpPr/>
      </dsp:nvSpPr>
      <dsp:spPr>
        <a:xfrm>
          <a:off x="3710106" y="1373438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 err="1"/>
            <a:t>Liczba</a:t>
          </a:r>
          <a:r>
            <a:rPr lang="en-US" sz="1100" b="0" i="0" kern="1200" dirty="0"/>
            <a:t> </a:t>
          </a:r>
          <a:r>
            <a:rPr lang="en-US" sz="1100" b="0" i="0" kern="1200" dirty="0" err="1"/>
            <a:t>wczytanych</a:t>
          </a:r>
          <a:r>
            <a:rPr lang="en-US" sz="1100" b="0" i="0" kern="1200" dirty="0"/>
            <a:t> </a:t>
          </a:r>
          <a:r>
            <a:rPr lang="en-US" sz="1100" b="0" i="0" kern="1200" dirty="0" err="1"/>
            <a:t>rekordów</a:t>
          </a:r>
          <a:r>
            <a:rPr lang="en-US" sz="1100" b="0" i="0" kern="1200" dirty="0"/>
            <a:t>: </a:t>
          </a:r>
          <a:r>
            <a:rPr lang="pl-PL" sz="1100" kern="1200" dirty="0"/>
            <a:t>128 347 </a:t>
          </a:r>
          <a:r>
            <a:rPr lang="en-US" sz="1100" b="0" i="0" kern="1200" dirty="0"/>
            <a:t>.</a:t>
          </a:r>
          <a:endParaRPr lang="en-US" sz="1100" kern="1200" dirty="0"/>
        </a:p>
      </dsp:txBody>
      <dsp:txXfrm>
        <a:off x="3710106" y="1373438"/>
        <a:ext cx="1549587" cy="657400"/>
      </dsp:txXfrm>
    </dsp:sp>
    <dsp:sp modelId="{C43CF37A-5C72-4551-80ED-5E8C737AD07A}">
      <dsp:nvSpPr>
        <dsp:cNvPr id="0" name=""/>
        <dsp:cNvSpPr/>
      </dsp:nvSpPr>
      <dsp:spPr>
        <a:xfrm>
          <a:off x="5529698" y="1373438"/>
          <a:ext cx="657400" cy="6574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7E1263-DF80-4A96-8313-C64B6FA93FFA}">
      <dsp:nvSpPr>
        <dsp:cNvPr id="0" name=""/>
        <dsp:cNvSpPr/>
      </dsp:nvSpPr>
      <dsp:spPr>
        <a:xfrm>
          <a:off x="5667752" y="1511492"/>
          <a:ext cx="381292" cy="3812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4C871-FF8F-4F91-9238-3E678C9B5CEB}">
      <dsp:nvSpPr>
        <dsp:cNvPr id="0" name=""/>
        <dsp:cNvSpPr/>
      </dsp:nvSpPr>
      <dsp:spPr>
        <a:xfrm>
          <a:off x="6327970" y="1373438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Zakres dat: 2019-01-01 – 2024-12-31.</a:t>
          </a:r>
          <a:endParaRPr lang="en-US" sz="1100" kern="1200"/>
        </a:p>
      </dsp:txBody>
      <dsp:txXfrm>
        <a:off x="6327970" y="1373438"/>
        <a:ext cx="1549587" cy="657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F5F32-D88D-433A-AE6E-31CC25EBFDBB}">
      <dsp:nvSpPr>
        <dsp:cNvPr id="0" name=""/>
        <dsp:cNvSpPr/>
      </dsp:nvSpPr>
      <dsp:spPr>
        <a:xfrm>
          <a:off x="0" y="582"/>
          <a:ext cx="4211240" cy="13635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F346C0-4990-476E-9479-6FD16AE37335}">
      <dsp:nvSpPr>
        <dsp:cNvPr id="0" name=""/>
        <dsp:cNvSpPr/>
      </dsp:nvSpPr>
      <dsp:spPr>
        <a:xfrm>
          <a:off x="412475" y="307382"/>
          <a:ext cx="749956" cy="7499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4958E-A42E-4661-8E8F-B9F971764695}">
      <dsp:nvSpPr>
        <dsp:cNvPr id="0" name=""/>
        <dsp:cNvSpPr/>
      </dsp:nvSpPr>
      <dsp:spPr>
        <a:xfrm>
          <a:off x="1574907" y="582"/>
          <a:ext cx="2636332" cy="13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310" tIns="144310" rIns="144310" bIns="1443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Wczytanie danych wejściowych i konfiguracji.</a:t>
          </a:r>
          <a:endParaRPr lang="en-US" sz="1900" kern="1200"/>
        </a:p>
      </dsp:txBody>
      <dsp:txXfrm>
        <a:off x="1574907" y="582"/>
        <a:ext cx="2636332" cy="1363556"/>
      </dsp:txXfrm>
    </dsp:sp>
    <dsp:sp modelId="{EA0FB0F7-A510-4CB9-9CD4-2389CE84BF6F}">
      <dsp:nvSpPr>
        <dsp:cNvPr id="0" name=""/>
        <dsp:cNvSpPr/>
      </dsp:nvSpPr>
      <dsp:spPr>
        <a:xfrm>
          <a:off x="0" y="1705028"/>
          <a:ext cx="4211240" cy="13635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EE6249-F45C-403F-8517-A2FE19DD347C}">
      <dsp:nvSpPr>
        <dsp:cNvPr id="0" name=""/>
        <dsp:cNvSpPr/>
      </dsp:nvSpPr>
      <dsp:spPr>
        <a:xfrm>
          <a:off x="412475" y="2011828"/>
          <a:ext cx="749956" cy="7499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20410-96F8-430B-885F-763729E164C2}">
      <dsp:nvSpPr>
        <dsp:cNvPr id="0" name=""/>
        <dsp:cNvSpPr/>
      </dsp:nvSpPr>
      <dsp:spPr>
        <a:xfrm>
          <a:off x="1574907" y="1705028"/>
          <a:ext cx="2636332" cy="13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310" tIns="144310" rIns="144310" bIns="1443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Podział danych na zbiór treningowy i testowy.</a:t>
          </a:r>
          <a:endParaRPr lang="en-US" sz="1900" kern="1200"/>
        </a:p>
      </dsp:txBody>
      <dsp:txXfrm>
        <a:off x="1574907" y="1705028"/>
        <a:ext cx="2636332" cy="1363556"/>
      </dsp:txXfrm>
    </dsp:sp>
    <dsp:sp modelId="{EE371B0F-F297-4D4C-BF48-5D9D515C7003}">
      <dsp:nvSpPr>
        <dsp:cNvPr id="0" name=""/>
        <dsp:cNvSpPr/>
      </dsp:nvSpPr>
      <dsp:spPr>
        <a:xfrm>
          <a:off x="0" y="3409473"/>
          <a:ext cx="4211240" cy="13635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33829-8747-420D-9D3F-074B22B7E8D6}">
      <dsp:nvSpPr>
        <dsp:cNvPr id="0" name=""/>
        <dsp:cNvSpPr/>
      </dsp:nvSpPr>
      <dsp:spPr>
        <a:xfrm>
          <a:off x="412475" y="3716274"/>
          <a:ext cx="749956" cy="7499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11771-59BB-4B56-9B8B-85580552785E}">
      <dsp:nvSpPr>
        <dsp:cNvPr id="0" name=""/>
        <dsp:cNvSpPr/>
      </dsp:nvSpPr>
      <dsp:spPr>
        <a:xfrm>
          <a:off x="1574907" y="3409473"/>
          <a:ext cx="2636332" cy="13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310" tIns="144310" rIns="144310" bIns="1443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Trenowanie modelu, obliczenie metryk oraz zapis wyników do plików </a:t>
          </a:r>
          <a:endParaRPr lang="en-US" sz="1900" kern="1200"/>
        </a:p>
      </dsp:txBody>
      <dsp:txXfrm>
        <a:off x="1574907" y="3409473"/>
        <a:ext cx="2636332" cy="13635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97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7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50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8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43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4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0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1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78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6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43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7458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18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17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50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47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41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18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65" y="893135"/>
            <a:ext cx="8506047" cy="2615609"/>
          </a:xfrm>
        </p:spPr>
        <p:txBody>
          <a:bodyPr/>
          <a:lstStyle/>
          <a:p>
            <a:r>
              <a:rPr dirty="0" err="1"/>
              <a:t>Przewidywanie</a:t>
            </a:r>
            <a:r>
              <a:rPr dirty="0"/>
              <a:t> </a:t>
            </a:r>
            <a:r>
              <a:rPr dirty="0" err="1"/>
              <a:t>opadów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Projekt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przedmiot</a:t>
            </a:r>
            <a:r>
              <a:rPr dirty="0"/>
              <a:t>: </a:t>
            </a:r>
            <a:r>
              <a:rPr dirty="0" err="1"/>
              <a:t>Podstawy</a:t>
            </a:r>
            <a:r>
              <a:rPr dirty="0"/>
              <a:t> </a:t>
            </a:r>
            <a:r>
              <a:rPr dirty="0" err="1"/>
              <a:t>sztucznej</a:t>
            </a:r>
            <a:r>
              <a:rPr dirty="0"/>
              <a:t> </a:t>
            </a:r>
            <a:r>
              <a:rPr dirty="0" err="1"/>
              <a:t>inteligencji</a:t>
            </a:r>
            <a:br>
              <a:rPr lang="pl-PL" dirty="0"/>
            </a:br>
            <a:r>
              <a:rPr lang="pl-PL" sz="1300" dirty="0"/>
              <a:t>Wykonał: Sebastian </a:t>
            </a:r>
            <a:r>
              <a:rPr lang="pl-PL" sz="1300" dirty="0" err="1"/>
              <a:t>BułDak</a:t>
            </a:r>
            <a:r>
              <a:rPr lang="pl-PL" sz="1300" dirty="0"/>
              <a:t>, </a:t>
            </a:r>
            <a:r>
              <a:rPr lang="pl-PL" sz="1300" dirty="0" err="1"/>
              <a:t>NazaR</a:t>
            </a:r>
            <a:r>
              <a:rPr lang="pl-PL" sz="1300" dirty="0"/>
              <a:t> </a:t>
            </a:r>
            <a:r>
              <a:rPr lang="pl-PL" sz="1300" dirty="0" err="1"/>
              <a:t>KoloDi</a:t>
            </a:r>
            <a:r>
              <a:rPr lang="pl-PL" sz="1300" dirty="0"/>
              <a:t>, Marcin słomka</a:t>
            </a:r>
            <a:endParaRPr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Zaprojektowanie</a:t>
            </a:r>
            <a:r>
              <a:rPr dirty="0"/>
              <a:t> </a:t>
            </a:r>
            <a:r>
              <a:rPr dirty="0" err="1"/>
              <a:t>modelu</a:t>
            </a:r>
            <a:r>
              <a:rPr dirty="0"/>
              <a:t> </a:t>
            </a:r>
            <a:r>
              <a:rPr dirty="0" err="1"/>
              <a:t>klasyfikacyjnego</a:t>
            </a:r>
            <a:r>
              <a:rPr dirty="0"/>
              <a:t> </a:t>
            </a:r>
            <a:r>
              <a:rPr dirty="0" err="1"/>
              <a:t>przewidującego</a:t>
            </a:r>
            <a:r>
              <a:rPr dirty="0"/>
              <a:t> </a:t>
            </a:r>
            <a:r>
              <a:rPr dirty="0" err="1"/>
              <a:t>wystąpienie</a:t>
            </a:r>
            <a:r>
              <a:rPr dirty="0"/>
              <a:t> </a:t>
            </a:r>
            <a:r>
              <a:rPr dirty="0" err="1"/>
              <a:t>opadu</a:t>
            </a:r>
            <a:r>
              <a:rPr dirty="0"/>
              <a:t> </a:t>
            </a:r>
            <a:r>
              <a:rPr dirty="0" err="1"/>
              <a:t>deszczu</a:t>
            </a:r>
            <a:r>
              <a:rPr dirty="0"/>
              <a:t>.</a:t>
            </a:r>
          </a:p>
          <a:p>
            <a:r>
              <a:rPr dirty="0" err="1"/>
              <a:t>Wejście</a:t>
            </a:r>
            <a:r>
              <a:rPr dirty="0"/>
              <a:t>: </a:t>
            </a:r>
            <a:r>
              <a:rPr dirty="0" err="1"/>
              <a:t>dane</a:t>
            </a:r>
            <a:r>
              <a:rPr dirty="0"/>
              <a:t> </a:t>
            </a:r>
            <a:r>
              <a:rPr dirty="0" err="1"/>
              <a:t>meteorologiczne</a:t>
            </a:r>
            <a:r>
              <a:rPr dirty="0"/>
              <a:t> z </a:t>
            </a:r>
            <a:r>
              <a:rPr dirty="0" err="1"/>
              <a:t>wielu</a:t>
            </a:r>
            <a:r>
              <a:rPr dirty="0"/>
              <a:t> </a:t>
            </a:r>
            <a:r>
              <a:rPr dirty="0" err="1"/>
              <a:t>stacji</a:t>
            </a:r>
            <a:r>
              <a:rPr dirty="0"/>
              <a:t> </a:t>
            </a:r>
            <a:r>
              <a:rPr dirty="0" err="1"/>
              <a:t>pomiarowych</a:t>
            </a:r>
            <a:r>
              <a:rPr dirty="0"/>
              <a:t> w </a:t>
            </a:r>
            <a:r>
              <a:rPr dirty="0" err="1"/>
              <a:t>Polsce</a:t>
            </a:r>
            <a:r>
              <a:rPr dirty="0"/>
              <a:t>.</a:t>
            </a:r>
          </a:p>
          <a:p>
            <a:r>
              <a:rPr dirty="0"/>
              <a:t>Wyjście: </a:t>
            </a:r>
            <a:r>
              <a:rPr dirty="0" err="1"/>
              <a:t>etykieta</a:t>
            </a:r>
            <a:r>
              <a:rPr dirty="0"/>
              <a:t> </a:t>
            </a:r>
            <a:r>
              <a:rPr dirty="0" err="1"/>
              <a:t>binarna</a:t>
            </a:r>
            <a:r>
              <a:rPr dirty="0"/>
              <a:t> – „</a:t>
            </a:r>
            <a:r>
              <a:rPr dirty="0" err="1"/>
              <a:t>Opad</a:t>
            </a:r>
            <a:r>
              <a:rPr dirty="0"/>
              <a:t>” </a:t>
            </a:r>
            <a:r>
              <a:rPr dirty="0" err="1"/>
              <a:t>lub</a:t>
            </a:r>
            <a:r>
              <a:rPr dirty="0"/>
              <a:t> „Brak </a:t>
            </a:r>
            <a:r>
              <a:rPr dirty="0" err="1"/>
              <a:t>opadu</a:t>
            </a:r>
            <a:r>
              <a:rPr dirty="0"/>
              <a:t>” </a:t>
            </a:r>
            <a:r>
              <a:rPr dirty="0" err="1"/>
              <a:t>dla</a:t>
            </a:r>
            <a:r>
              <a:rPr dirty="0"/>
              <a:t> </a:t>
            </a:r>
            <a:r>
              <a:rPr lang="pl-PL" dirty="0"/>
              <a:t>każdej </a:t>
            </a:r>
            <a:r>
              <a:rPr dirty="0" err="1"/>
              <a:t>stacji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dnia</a:t>
            </a:r>
            <a:r>
              <a:rPr dirty="0"/>
              <a:t>.</a:t>
            </a:r>
          </a:p>
          <a:p>
            <a:r>
              <a:rPr dirty="0" err="1"/>
              <a:t>Sprawdzenie</a:t>
            </a:r>
            <a:r>
              <a:rPr dirty="0"/>
              <a:t> </a:t>
            </a:r>
            <a:r>
              <a:rPr dirty="0" err="1"/>
              <a:t>jakości</a:t>
            </a:r>
            <a:r>
              <a:rPr dirty="0"/>
              <a:t> </a:t>
            </a:r>
            <a:r>
              <a:rPr dirty="0" err="1"/>
              <a:t>modelu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zbiorze</a:t>
            </a:r>
            <a:r>
              <a:rPr dirty="0"/>
              <a:t> </a:t>
            </a:r>
            <a:r>
              <a:rPr dirty="0" err="1"/>
              <a:t>testowym</a:t>
            </a:r>
            <a:r>
              <a:rPr dirty="0"/>
              <a:t> </a:t>
            </a:r>
            <a:r>
              <a:rPr dirty="0" err="1"/>
              <a:t>oraz</a:t>
            </a:r>
            <a:r>
              <a:rPr dirty="0"/>
              <a:t> </a:t>
            </a:r>
            <a:r>
              <a:rPr dirty="0" err="1"/>
              <a:t>zapis</a:t>
            </a:r>
            <a:r>
              <a:rPr dirty="0"/>
              <a:t> </a:t>
            </a:r>
            <a:r>
              <a:rPr dirty="0" err="1"/>
              <a:t>wyników</a:t>
            </a:r>
            <a:r>
              <a:rPr dirty="0"/>
              <a:t> do </a:t>
            </a:r>
            <a:r>
              <a:rPr dirty="0" err="1"/>
              <a:t>plików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300">
                <a:solidFill>
                  <a:srgbClr val="EBEBEB"/>
                </a:solidFill>
              </a:rPr>
              <a:t>Dane – źródło i charakterystyka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550BE37-D0DB-5497-3038-0810B2B204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602472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54AE11C-2C31-D99D-53DA-2BA63A0F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pl-PL" sz="3900" b="1"/>
              <a:t>Działanie programu</a:t>
            </a:r>
            <a:endParaRPr lang="pl-PL" sz="39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4C53F4-38EB-07B8-2E57-4CA916720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100" dirty="0"/>
              <a:t>Program przewiduje, czy </a:t>
            </a:r>
            <a:r>
              <a:rPr lang="pl-PL" sz="1100" b="1" dirty="0"/>
              <a:t>jutro</a:t>
            </a:r>
            <a:r>
              <a:rPr lang="pl-PL" sz="1100" dirty="0"/>
              <a:t> w danej stacji </a:t>
            </a:r>
            <a:r>
              <a:rPr lang="pl-PL" sz="1100" b="1" dirty="0"/>
              <a:t>wystąpi opad</a:t>
            </a:r>
            <a:r>
              <a:rPr lang="pl-PL" sz="1100" dirty="0"/>
              <a:t> (≥ 0.1 mm), czy nie.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Dane wejściowe:</a:t>
            </a:r>
          </a:p>
          <a:p>
            <a:pPr lvl="1">
              <a:lnSpc>
                <a:spcPct val="90000"/>
              </a:lnSpc>
            </a:pPr>
            <a:r>
              <a:rPr lang="pl-PL" sz="1100" dirty="0"/>
              <a:t>dzienne pomiary z </a:t>
            </a:r>
            <a:r>
              <a:rPr lang="pl-PL" sz="1100" b="1" dirty="0"/>
              <a:t>59 stacji SYNOP IMGW</a:t>
            </a:r>
            <a:r>
              <a:rPr lang="pl-PL" sz="1100" dirty="0"/>
              <a:t> w latach 2019–2024,</a:t>
            </a:r>
          </a:p>
          <a:p>
            <a:pPr lvl="1">
              <a:lnSpc>
                <a:spcPct val="90000"/>
              </a:lnSpc>
            </a:pPr>
            <a:r>
              <a:rPr lang="pl-PL" sz="1100" dirty="0"/>
              <a:t>m.in. opad, temperatura maksymalna, minimalna, średnia.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Główne kroki działania:</a:t>
            </a:r>
          </a:p>
          <a:p>
            <a:pPr lvl="1">
              <a:lnSpc>
                <a:spcPct val="90000"/>
              </a:lnSpc>
            </a:pPr>
            <a:r>
              <a:rPr lang="pl-PL" sz="1100" b="1" dirty="0"/>
              <a:t>Wczytanie danych</a:t>
            </a:r>
            <a:r>
              <a:rPr lang="pl-PL" sz="1100" dirty="0"/>
              <a:t> z plików CSV dla wybranych lat.</a:t>
            </a:r>
          </a:p>
          <a:p>
            <a:pPr lvl="1">
              <a:lnSpc>
                <a:spcPct val="90000"/>
              </a:lnSpc>
            </a:pPr>
            <a:r>
              <a:rPr lang="pl-PL" sz="1100" b="1" dirty="0"/>
              <a:t>Tworzenie cech (</a:t>
            </a:r>
            <a:r>
              <a:rPr lang="pl-PL" sz="1100" b="1" dirty="0" err="1"/>
              <a:t>features</a:t>
            </a:r>
            <a:r>
              <a:rPr lang="pl-PL" sz="1100" b="1" dirty="0"/>
              <a:t>)</a:t>
            </a:r>
            <a:r>
              <a:rPr lang="pl-PL" sz="1100" dirty="0"/>
              <a:t> – agregacja do poziomu </a:t>
            </a:r>
            <a:r>
              <a:rPr lang="pl-PL" sz="1100" dirty="0" err="1"/>
              <a:t>stacjia</a:t>
            </a:r>
            <a:r>
              <a:rPr lang="pl-PL" sz="1100" dirty="0"/>
              <a:t> i dnia, cechy bieżące i opóźnione.</a:t>
            </a:r>
          </a:p>
          <a:p>
            <a:pPr lvl="1">
              <a:lnSpc>
                <a:spcPct val="90000"/>
              </a:lnSpc>
            </a:pPr>
            <a:r>
              <a:rPr lang="pl-PL" sz="1100" b="1" dirty="0"/>
              <a:t>Podział na zbiór treningowy (2019–2023)</a:t>
            </a:r>
            <a:r>
              <a:rPr lang="pl-PL" sz="1100" dirty="0"/>
              <a:t> i </a:t>
            </a:r>
            <a:r>
              <a:rPr lang="pl-PL" sz="1100" b="1" dirty="0"/>
              <a:t>testowy (2024)</a:t>
            </a:r>
            <a:r>
              <a:rPr lang="pl-PL" sz="1100" dirty="0"/>
              <a:t>.</a:t>
            </a:r>
          </a:p>
          <a:p>
            <a:pPr lvl="1">
              <a:lnSpc>
                <a:spcPct val="90000"/>
              </a:lnSpc>
            </a:pPr>
            <a:r>
              <a:rPr lang="pl-PL" sz="1100" b="1" dirty="0"/>
              <a:t>Trenowanie modelu</a:t>
            </a:r>
            <a:r>
              <a:rPr lang="pl-PL" sz="1100" dirty="0"/>
              <a:t> klasyfikacji (</a:t>
            </a:r>
            <a:r>
              <a:rPr lang="pl-PL" sz="1100" dirty="0" err="1"/>
              <a:t>HistGradientBoostingClassifier</a:t>
            </a:r>
            <a:r>
              <a:rPr lang="pl-PL" sz="1100" dirty="0"/>
              <a:t>).</a:t>
            </a:r>
          </a:p>
          <a:p>
            <a:pPr lvl="1">
              <a:lnSpc>
                <a:spcPct val="90000"/>
              </a:lnSpc>
            </a:pPr>
            <a:r>
              <a:rPr lang="pl-PL" sz="1100" b="1" dirty="0"/>
              <a:t>Ewaluacja jakości</a:t>
            </a:r>
            <a:r>
              <a:rPr lang="pl-PL" sz="1100" dirty="0"/>
              <a:t> na zbiorze testowym + zapis wyników i modeli do plików.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Wyjście:</a:t>
            </a:r>
          </a:p>
          <a:p>
            <a:pPr lvl="1">
              <a:lnSpc>
                <a:spcPct val="90000"/>
              </a:lnSpc>
            </a:pPr>
            <a:r>
              <a:rPr lang="pl-PL" sz="1100" dirty="0"/>
              <a:t>etykieta binarna </a:t>
            </a:r>
            <a:r>
              <a:rPr lang="pl-PL" sz="1100" b="1" dirty="0"/>
              <a:t>„Opad” / „Brak opadu”</a:t>
            </a:r>
            <a:r>
              <a:rPr lang="pl-PL" sz="1100" dirty="0"/>
              <a:t> dla każdego </a:t>
            </a:r>
            <a:r>
              <a:rPr lang="pl-PL" sz="1100" dirty="0" err="1"/>
              <a:t>stacjia</a:t>
            </a:r>
            <a:r>
              <a:rPr lang="pl-PL" sz="1100" dirty="0"/>
              <a:t> i dnia,</a:t>
            </a:r>
          </a:p>
          <a:p>
            <a:pPr lvl="1">
              <a:lnSpc>
                <a:spcPct val="90000"/>
              </a:lnSpc>
            </a:pPr>
            <a:r>
              <a:rPr lang="pl-PL" sz="1100" dirty="0"/>
              <a:t>metryki (</a:t>
            </a:r>
            <a:r>
              <a:rPr lang="pl-PL" sz="1100" dirty="0" err="1"/>
              <a:t>accuracy</a:t>
            </a:r>
            <a:r>
              <a:rPr lang="pl-PL" sz="1100" dirty="0"/>
              <a:t>, F1, ROC AUC), macierz pomyłek, raport wyników</a:t>
            </a:r>
          </a:p>
          <a:p>
            <a:pPr>
              <a:lnSpc>
                <a:spcPct val="90000"/>
              </a:lnSpc>
            </a:pPr>
            <a:endParaRPr lang="pl-PL" sz="1100" dirty="0"/>
          </a:p>
        </p:txBody>
      </p:sp>
    </p:spTree>
    <p:extLst>
      <p:ext uri="{BB962C8B-B14F-4D97-AF65-F5344CB8AC3E}">
        <p14:creationId xmlns:p14="http://schemas.microsoft.com/office/powerpoint/2010/main" val="35486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5F79BA-6CF0-9E15-1411-3638D79E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dirty="0"/>
              <a:t>Model użyty w projekcie – </a:t>
            </a:r>
            <a:r>
              <a:rPr lang="pl-PL" sz="3600" dirty="0" err="1"/>
              <a:t>HistGradientBoostingClassifier</a:t>
            </a:r>
            <a:endParaRPr lang="pl-PL" sz="3600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5A0390-A275-2679-A11A-0C7A6A0B7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l-PL" dirty="0"/>
              <a:t>Należy do rodziny modeli </a:t>
            </a:r>
            <a:r>
              <a:rPr lang="pl-PL" b="1" dirty="0"/>
              <a:t>ensemble</a:t>
            </a:r>
            <a:r>
              <a:rPr lang="pl-PL" dirty="0"/>
              <a:t> – łączy wiele </a:t>
            </a:r>
            <a:r>
              <a:rPr lang="pl-PL" b="1" dirty="0"/>
              <a:t>drzew decyzyjnych</a:t>
            </a:r>
            <a:r>
              <a:rPr lang="pl-PL" dirty="0"/>
              <a:t> w jeden silny klasyfikator.</a:t>
            </a:r>
          </a:p>
          <a:p>
            <a:r>
              <a:rPr lang="pl-PL" dirty="0"/>
              <a:t>Wykorzystuje technikę </a:t>
            </a:r>
            <a:r>
              <a:rPr lang="pl-PL" b="1" dirty="0"/>
              <a:t>gradient </a:t>
            </a:r>
            <a:r>
              <a:rPr lang="pl-PL" b="1" dirty="0" err="1"/>
              <a:t>boosting</a:t>
            </a:r>
            <a:r>
              <a:rPr lang="pl-PL" dirty="0"/>
              <a:t>:</a:t>
            </a:r>
          </a:p>
          <a:p>
            <a:pPr lvl="1"/>
            <a:r>
              <a:rPr lang="pl-PL" dirty="0"/>
              <a:t>kolejne drzewa uczą się </a:t>
            </a:r>
            <a:r>
              <a:rPr lang="pl-PL" b="1" dirty="0"/>
              <a:t>korygować błędy poprzednich</a:t>
            </a:r>
            <a:r>
              <a:rPr lang="pl-PL" dirty="0"/>
              <a:t>,</a:t>
            </a:r>
          </a:p>
          <a:p>
            <a:pPr lvl="1"/>
            <a:r>
              <a:rPr lang="pl-PL" dirty="0"/>
              <a:t>minimalizuje funkcję straty krok po kroku (gradientowo).</a:t>
            </a:r>
          </a:p>
          <a:p>
            <a:r>
              <a:rPr lang="pl-PL" dirty="0"/>
              <a:t>Wersja „</a:t>
            </a:r>
            <a:r>
              <a:rPr lang="pl-PL" b="1" dirty="0"/>
              <a:t>histogramowa</a:t>
            </a:r>
            <a:r>
              <a:rPr lang="pl-PL" dirty="0"/>
              <a:t>”:</a:t>
            </a:r>
          </a:p>
          <a:p>
            <a:pPr lvl="1"/>
            <a:r>
              <a:rPr lang="pl-PL" dirty="0"/>
              <a:t>cechy numeryczne są dzielone na </a:t>
            </a:r>
            <a:r>
              <a:rPr lang="pl-PL" b="1" dirty="0"/>
              <a:t>koszyki (</a:t>
            </a:r>
            <a:r>
              <a:rPr lang="pl-PL" b="1" dirty="0" err="1"/>
              <a:t>binning</a:t>
            </a:r>
            <a:r>
              <a:rPr lang="pl-PL" b="1" dirty="0"/>
              <a:t>)</a:t>
            </a:r>
            <a:r>
              <a:rPr lang="pl-PL" dirty="0"/>
              <a:t> → przyspiesza uczenie,</a:t>
            </a:r>
          </a:p>
          <a:p>
            <a:pPr lvl="1"/>
            <a:r>
              <a:rPr lang="pl-PL" dirty="0"/>
              <a:t>zmniejsza zużycie pamięci i pozwala trenować na większych zbiorach danych.</a:t>
            </a:r>
          </a:p>
          <a:p>
            <a:r>
              <a:rPr lang="pl-PL" dirty="0"/>
              <a:t>Bardzo dobrze sprawdza się na </a:t>
            </a:r>
            <a:r>
              <a:rPr lang="pl-PL" b="1" dirty="0"/>
              <a:t>danych tabelarycznych</a:t>
            </a:r>
            <a:r>
              <a:rPr lang="pl-PL" dirty="0"/>
              <a:t> (</a:t>
            </a:r>
            <a:r>
              <a:rPr lang="pl-PL" dirty="0" err="1"/>
              <a:t>features</a:t>
            </a:r>
            <a:r>
              <a:rPr lang="pl-PL" dirty="0"/>
              <a:t> w kolumnach, rekordy w wierszach).</a:t>
            </a:r>
          </a:p>
        </p:txBody>
      </p:sp>
    </p:spTree>
    <p:extLst>
      <p:ext uri="{BB962C8B-B14F-4D97-AF65-F5344CB8AC3E}">
        <p14:creationId xmlns:p14="http://schemas.microsoft.com/office/powerpoint/2010/main" val="3684975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pl-PL" sz="3900">
                <a:solidFill>
                  <a:srgbClr val="F2F2F2"/>
                </a:solidFill>
              </a:rPr>
              <a:t>Struktura programu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E14E93-591D-85C8-01D5-190A7B9794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825954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578432-7BDE-A075-05A5-4859CDD9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Wykorzystane cechy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4EC7C88-852D-7EA6-E61C-1E69C1352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l-PL" b="1" dirty="0" err="1"/>
              <a:t>precip</a:t>
            </a:r>
            <a:r>
              <a:rPr lang="pl-PL" dirty="0"/>
              <a:t> – suma opadu [mm] dziś (D).</a:t>
            </a:r>
          </a:p>
          <a:p>
            <a:r>
              <a:rPr lang="pl-PL" b="1" dirty="0" err="1"/>
              <a:t>tmax</a:t>
            </a:r>
            <a:r>
              <a:rPr lang="pl-PL" dirty="0"/>
              <a:t> – maksymalna temperatura [°C] dziś.</a:t>
            </a:r>
          </a:p>
          <a:p>
            <a:r>
              <a:rPr lang="pl-PL" b="1" dirty="0" err="1"/>
              <a:t>tmin</a:t>
            </a:r>
            <a:r>
              <a:rPr lang="pl-PL" dirty="0"/>
              <a:t> – minimalna temperatura [°C] dziś.</a:t>
            </a:r>
          </a:p>
          <a:p>
            <a:r>
              <a:rPr lang="pl-PL" b="1" dirty="0" err="1"/>
              <a:t>tavg</a:t>
            </a:r>
            <a:r>
              <a:rPr lang="pl-PL" dirty="0"/>
              <a:t> – średnia temperatura [°C] dziś.</a:t>
            </a:r>
          </a:p>
          <a:p>
            <a:r>
              <a:rPr lang="pl-PL" b="1" dirty="0" err="1"/>
              <a:t>rain_today</a:t>
            </a:r>
            <a:r>
              <a:rPr lang="pl-PL" dirty="0"/>
              <a:t> – czy dziś padało: 1 jeśli </a:t>
            </a:r>
            <a:r>
              <a:rPr lang="pl-PL" dirty="0" err="1"/>
              <a:t>precip</a:t>
            </a:r>
            <a:r>
              <a:rPr lang="pl-PL" dirty="0"/>
              <a:t> ≥ 0.1 mm, inaczej 0.</a:t>
            </a:r>
          </a:p>
          <a:p>
            <a:pPr marL="0" indent="0">
              <a:buNone/>
            </a:pPr>
            <a:r>
              <a:rPr lang="pl-PL" b="1" dirty="0"/>
              <a:t>Lagi czasowe (pamięć) – liczone osobno dla każdej stacji</a:t>
            </a:r>
          </a:p>
          <a:p>
            <a:r>
              <a:rPr lang="pl-PL" b="1" dirty="0"/>
              <a:t>precip_lag1, tmax_lag1, tmin_lag1, tavg_lag1, rain_today_lag1</a:t>
            </a:r>
            <a:br>
              <a:rPr lang="pl-PL" dirty="0"/>
            </a:br>
            <a:r>
              <a:rPr lang="pl-PL" dirty="0"/>
              <a:t>wartości z </a:t>
            </a:r>
            <a:r>
              <a:rPr lang="pl-PL" b="1" dirty="0"/>
              <a:t>wczoraj (D−1)</a:t>
            </a:r>
            <a:r>
              <a:rPr lang="pl-PL" dirty="0"/>
              <a:t> tej samej stacji.</a:t>
            </a:r>
          </a:p>
          <a:p>
            <a:r>
              <a:rPr lang="pl-PL" b="1" dirty="0"/>
              <a:t>precip_lag7, tmax_lag7, tmin_lag7, tavg_lag7, rain_today_lag7</a:t>
            </a:r>
            <a:br>
              <a:rPr lang="pl-PL" dirty="0"/>
            </a:br>
            <a:r>
              <a:rPr lang="pl-PL" dirty="0"/>
              <a:t>wartości sprzed </a:t>
            </a:r>
            <a:r>
              <a:rPr lang="pl-PL" b="1" dirty="0"/>
              <a:t>tygodnia (D−7)</a:t>
            </a:r>
            <a:r>
              <a:rPr lang="pl-PL" dirty="0"/>
              <a:t> tej samej stacji.</a:t>
            </a:r>
          </a:p>
          <a:p>
            <a:r>
              <a:rPr lang="pl-PL" dirty="0"/>
              <a:t>Przykład: precip_lag1 = opad w tej stacji wczoraj; rain_today_lag7 = czy padało tydzień temu.</a:t>
            </a:r>
          </a:p>
          <a:p>
            <a:pPr marL="0" indent="0">
              <a:buNone/>
            </a:pPr>
            <a:r>
              <a:rPr lang="pl-PL" b="1" dirty="0"/>
              <a:t>Sezonowość (z daty D)</a:t>
            </a:r>
          </a:p>
          <a:p>
            <a:r>
              <a:rPr lang="pl-PL" b="1" dirty="0" err="1"/>
              <a:t>month</a:t>
            </a:r>
            <a:r>
              <a:rPr lang="pl-PL" dirty="0"/>
              <a:t> – numer miesiąca (1–12).</a:t>
            </a:r>
          </a:p>
          <a:p>
            <a:r>
              <a:rPr lang="pl-PL" b="1" dirty="0" err="1"/>
              <a:t>day_of_year</a:t>
            </a:r>
            <a:r>
              <a:rPr lang="pl-PL" dirty="0"/>
              <a:t> – dzień roku (1–365/366).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28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009" y="452718"/>
            <a:ext cx="7447822" cy="1400530"/>
          </a:xfrm>
        </p:spPr>
        <p:txBody>
          <a:bodyPr/>
          <a:lstStyle/>
          <a:p>
            <a:r>
              <a:rPr sz="3600" dirty="0" err="1"/>
              <a:t>Optymalizacja</a:t>
            </a:r>
            <a:r>
              <a:rPr lang="pl-PL" sz="3600" dirty="0"/>
              <a:t> </a:t>
            </a:r>
            <a:r>
              <a:rPr sz="3600" dirty="0" err="1"/>
              <a:t>hiperparametrów</a:t>
            </a:r>
            <a:r>
              <a:rPr sz="36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Najlepsze</a:t>
            </a:r>
            <a:r>
              <a:rPr dirty="0"/>
              <a:t> </a:t>
            </a:r>
            <a:r>
              <a:rPr dirty="0" err="1"/>
              <a:t>parametry</a:t>
            </a:r>
            <a:r>
              <a:rPr dirty="0"/>
              <a:t>:</a:t>
            </a:r>
          </a:p>
          <a:p>
            <a:r>
              <a:rPr dirty="0"/>
              <a:t> • </a:t>
            </a:r>
            <a:r>
              <a:rPr dirty="0" err="1"/>
              <a:t>max_iter</a:t>
            </a:r>
            <a:r>
              <a:rPr dirty="0"/>
              <a:t>: 150</a:t>
            </a:r>
          </a:p>
          <a:p>
            <a:r>
              <a:rPr dirty="0"/>
              <a:t> • </a:t>
            </a:r>
            <a:r>
              <a:rPr dirty="0" err="1"/>
              <a:t>learning_rate</a:t>
            </a:r>
            <a:r>
              <a:rPr dirty="0"/>
              <a:t>: 0.15</a:t>
            </a:r>
          </a:p>
          <a:p>
            <a:r>
              <a:rPr dirty="0"/>
              <a:t> • </a:t>
            </a:r>
            <a:r>
              <a:rPr dirty="0" err="1"/>
              <a:t>max_depth</a:t>
            </a:r>
            <a:r>
              <a:rPr dirty="0"/>
              <a:t>: 6</a:t>
            </a:r>
          </a:p>
          <a:p>
            <a:r>
              <a:rPr dirty="0"/>
              <a:t> • </a:t>
            </a:r>
            <a:r>
              <a:rPr dirty="0" err="1"/>
              <a:t>min_samples_leaf</a:t>
            </a:r>
            <a:r>
              <a:rPr dirty="0"/>
              <a:t>: 20</a:t>
            </a:r>
          </a:p>
          <a:p>
            <a:r>
              <a:rPr dirty="0"/>
              <a:t> • l2_regularization: 0.1</a:t>
            </a:r>
          </a:p>
          <a:p>
            <a:r>
              <a:rPr dirty="0" err="1"/>
              <a:t>Najlepszy</a:t>
            </a:r>
            <a:r>
              <a:rPr dirty="0"/>
              <a:t> </a:t>
            </a:r>
            <a:r>
              <a:rPr dirty="0" err="1"/>
              <a:t>wynik</a:t>
            </a:r>
            <a:r>
              <a:rPr dirty="0"/>
              <a:t> CV (ROC AUC): 0.7836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8347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743184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7" y="1645920"/>
            <a:ext cx="2642159" cy="4470821"/>
          </a:xfrm>
        </p:spPr>
        <p:txBody>
          <a:bodyPr>
            <a:normAutofit/>
          </a:bodyPr>
          <a:lstStyle/>
          <a:p>
            <a:pPr algn="r"/>
            <a:r>
              <a:rPr lang="pl-PL">
                <a:solidFill>
                  <a:schemeClr val="bg2"/>
                </a:solidFill>
              </a:rPr>
              <a:t>Zbiory danych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3081" y="1645920"/>
            <a:ext cx="4702076" cy="4470821"/>
          </a:xfrm>
        </p:spPr>
        <p:txBody>
          <a:bodyPr>
            <a:normAutofit/>
          </a:bodyPr>
          <a:lstStyle/>
          <a:p>
            <a:r>
              <a:rPr lang="pl-PL" dirty="0"/>
              <a:t>Łącznie: 128 347 rekordów, 59 stacji</a:t>
            </a:r>
          </a:p>
          <a:p>
            <a:r>
              <a:rPr lang="pl-PL" dirty="0"/>
              <a:t>Train (2019–2023): 106 886 rekordów</a:t>
            </a:r>
          </a:p>
          <a:p>
            <a:r>
              <a:rPr lang="pl-PL" dirty="0"/>
              <a:t>Test (2024): 21 461 rekordów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8347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743184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7" y="1645920"/>
            <a:ext cx="2642159" cy="4470821"/>
          </a:xfrm>
        </p:spPr>
        <p:txBody>
          <a:bodyPr>
            <a:normAutofit/>
          </a:bodyPr>
          <a:lstStyle/>
          <a:p>
            <a:pPr algn="r"/>
            <a:r>
              <a:rPr lang="pl-PL" sz="2900">
                <a:solidFill>
                  <a:srgbClr val="FFFFFF"/>
                </a:solidFill>
              </a:rPr>
              <a:t>Skuteczność – TOP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3081" y="1645920"/>
            <a:ext cx="4439628" cy="44708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100" dirty="0"/>
              <a:t>LĘBORK (354170125) — </a:t>
            </a:r>
            <a:r>
              <a:rPr lang="pl-PL" sz="1100" dirty="0" err="1"/>
              <a:t>acc</a:t>
            </a:r>
            <a:r>
              <a:rPr lang="pl-PL" sz="1100" dirty="0"/>
              <a:t>=0.72, </a:t>
            </a:r>
            <a:r>
              <a:rPr lang="pl-PL" sz="1100" dirty="0" err="1"/>
              <a:t>pos_rate</a:t>
            </a:r>
            <a:r>
              <a:rPr lang="pl-PL" sz="1100" dirty="0"/>
              <a:t>=0.29, n=362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LESKO (349220690) — </a:t>
            </a:r>
            <a:r>
              <a:rPr lang="pl-PL" sz="1100" dirty="0" err="1"/>
              <a:t>acc</a:t>
            </a:r>
            <a:r>
              <a:rPr lang="pl-PL" sz="1100" dirty="0"/>
              <a:t>=0.70, </a:t>
            </a:r>
            <a:r>
              <a:rPr lang="pl-PL" sz="1100" dirty="0" err="1"/>
              <a:t>pos_rate</a:t>
            </a:r>
            <a:r>
              <a:rPr lang="pl-PL" sz="1100" dirty="0"/>
              <a:t>=0.37, n=363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LESZNO (351160418) — </a:t>
            </a:r>
            <a:r>
              <a:rPr lang="pl-PL" sz="1100" dirty="0" err="1"/>
              <a:t>acc</a:t>
            </a:r>
            <a:r>
              <a:rPr lang="pl-PL" sz="1100" dirty="0"/>
              <a:t>=0.69, </a:t>
            </a:r>
            <a:r>
              <a:rPr lang="pl-PL" sz="1100" dirty="0" err="1"/>
              <a:t>pos_rate</a:t>
            </a:r>
            <a:r>
              <a:rPr lang="pl-PL" sz="1100" dirty="0"/>
              <a:t>=0.38, n=363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RESKO-SMÓLSKO (353150210) — </a:t>
            </a:r>
            <a:r>
              <a:rPr lang="pl-PL" sz="1100" dirty="0" err="1"/>
              <a:t>acc</a:t>
            </a:r>
            <a:r>
              <a:rPr lang="pl-PL" sz="1100" dirty="0"/>
              <a:t>=0.69, </a:t>
            </a:r>
            <a:r>
              <a:rPr lang="pl-PL" sz="1100" dirty="0" err="1"/>
              <a:t>pos_rate</a:t>
            </a:r>
            <a:r>
              <a:rPr lang="pl-PL" sz="1100" dirty="0"/>
              <a:t>=0.36, n=360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ELBLĄG-MILEJEWO (354190160) — </a:t>
            </a:r>
            <a:r>
              <a:rPr lang="pl-PL" sz="1100" dirty="0" err="1"/>
              <a:t>acc</a:t>
            </a:r>
            <a:r>
              <a:rPr lang="pl-PL" sz="1100" dirty="0"/>
              <a:t>=0.69, </a:t>
            </a:r>
            <a:r>
              <a:rPr lang="pl-PL" sz="1100" dirty="0" err="1"/>
              <a:t>pos_rate</a:t>
            </a:r>
            <a:r>
              <a:rPr lang="pl-PL" sz="1100" dirty="0"/>
              <a:t>=0.37, n=363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TARNÓW (350200575) — </a:t>
            </a:r>
            <a:r>
              <a:rPr lang="pl-PL" sz="1100" dirty="0" err="1"/>
              <a:t>acc</a:t>
            </a:r>
            <a:r>
              <a:rPr lang="pl-PL" sz="1100" dirty="0"/>
              <a:t>=0.69, </a:t>
            </a:r>
            <a:r>
              <a:rPr lang="pl-PL" sz="1100" dirty="0" err="1"/>
              <a:t>pos_rate</a:t>
            </a:r>
            <a:r>
              <a:rPr lang="pl-PL" sz="1100" dirty="0"/>
              <a:t>=0.36, n=356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KATOWICE-MUCHOWIEC (350190560) — </a:t>
            </a:r>
            <a:r>
              <a:rPr lang="pl-PL" sz="1100" dirty="0" err="1"/>
              <a:t>acc</a:t>
            </a:r>
            <a:r>
              <a:rPr lang="pl-PL" sz="1100" dirty="0"/>
              <a:t>=0.68, </a:t>
            </a:r>
            <a:r>
              <a:rPr lang="pl-PL" sz="1100" dirty="0" err="1"/>
              <a:t>pos_rate</a:t>
            </a:r>
            <a:r>
              <a:rPr lang="pl-PL" sz="1100" dirty="0"/>
              <a:t>=0.41, n=365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HALA GĄSIENICOWA (349200628) — </a:t>
            </a:r>
            <a:r>
              <a:rPr lang="pl-PL" sz="1100" dirty="0" err="1"/>
              <a:t>acc</a:t>
            </a:r>
            <a:r>
              <a:rPr lang="pl-PL" sz="1100" dirty="0"/>
              <a:t>=0.68, </a:t>
            </a:r>
            <a:r>
              <a:rPr lang="pl-PL" sz="1100" dirty="0" err="1"/>
              <a:t>pos_rate</a:t>
            </a:r>
            <a:r>
              <a:rPr lang="pl-PL" sz="1100" dirty="0"/>
              <a:t>=0.40, n=361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SŁUBICE (352140310) — </a:t>
            </a:r>
            <a:r>
              <a:rPr lang="pl-PL" sz="1100" dirty="0" err="1"/>
              <a:t>acc</a:t>
            </a:r>
            <a:r>
              <a:rPr lang="pl-PL" sz="1100" dirty="0"/>
              <a:t>=0.68, </a:t>
            </a:r>
            <a:r>
              <a:rPr lang="pl-PL" sz="1100" dirty="0" err="1"/>
              <a:t>pos_rate</a:t>
            </a:r>
            <a:r>
              <a:rPr lang="pl-PL" sz="1100" dirty="0"/>
              <a:t>=0.42, n=365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LEGNICA (351160415) — </a:t>
            </a:r>
            <a:r>
              <a:rPr lang="pl-PL" sz="1100" dirty="0" err="1"/>
              <a:t>acc</a:t>
            </a:r>
            <a:r>
              <a:rPr lang="pl-PL" sz="1100" dirty="0"/>
              <a:t>=0.68, </a:t>
            </a:r>
            <a:r>
              <a:rPr lang="pl-PL" sz="1100" dirty="0" err="1"/>
              <a:t>pos_rate</a:t>
            </a:r>
            <a:r>
              <a:rPr lang="pl-PL" sz="1100" dirty="0"/>
              <a:t>=0.42, n=361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Macierz</a:t>
            </a:r>
            <a:r>
              <a:rPr dirty="0"/>
              <a:t> </a:t>
            </a:r>
            <a:r>
              <a:rPr dirty="0" err="1"/>
              <a:t>pomyłek</a:t>
            </a:r>
            <a:r>
              <a:t> </a:t>
            </a:r>
            <a:endParaRPr dirty="0"/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53533"/>
            <a:ext cx="7295656" cy="56462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testów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Accuracy: 0.655</a:t>
            </a:r>
          </a:p>
          <a:p>
            <a:r>
              <a:rPr dirty="0"/>
              <a:t>ROC AUC: 0.671</a:t>
            </a:r>
          </a:p>
          <a:p>
            <a:r>
              <a:rPr dirty="0"/>
              <a:t>PR AUC: 0.571</a:t>
            </a:r>
          </a:p>
          <a:p>
            <a:r>
              <a:rPr dirty="0" err="1"/>
              <a:t>Klasa</a:t>
            </a:r>
            <a:r>
              <a:rPr dirty="0"/>
              <a:t> '</a:t>
            </a:r>
            <a:r>
              <a:rPr dirty="0" err="1"/>
              <a:t>Opad</a:t>
            </a:r>
            <a:r>
              <a:rPr dirty="0"/>
              <a:t>' — P=0.61, R=0.44, F1=0.51</a:t>
            </a:r>
          </a:p>
          <a:p>
            <a:r>
              <a:rPr dirty="0" err="1"/>
              <a:t>Klasa</a:t>
            </a:r>
            <a:r>
              <a:rPr dirty="0"/>
              <a:t> 'Brak </a:t>
            </a:r>
            <a:r>
              <a:rPr dirty="0" err="1"/>
              <a:t>opadu</a:t>
            </a:r>
            <a:r>
              <a:rPr dirty="0"/>
              <a:t>' — P=0.67, R=0.80, F1=0.73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">
  <a:themeElements>
    <a:clrScheme name="J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J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220</TotalTime>
  <Words>843</Words>
  <Application>Microsoft Office PowerPoint</Application>
  <PresentationFormat>Pokaz na ekranie (4:3)</PresentationFormat>
  <Paragraphs>81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Jon</vt:lpstr>
      <vt:lpstr>Przewidywanie opadów</vt:lpstr>
      <vt:lpstr>Cel projektu</vt:lpstr>
      <vt:lpstr>Dane – źródło i charakterystyka</vt:lpstr>
      <vt:lpstr>Działanie programu</vt:lpstr>
      <vt:lpstr>Model użyty w projekcie – HistGradientBoostingClassifier</vt:lpstr>
      <vt:lpstr>Struktura programu</vt:lpstr>
      <vt:lpstr>Wykorzystane cechy</vt:lpstr>
      <vt:lpstr>Optymalizacja hiperparametrów </vt:lpstr>
      <vt:lpstr>Zbiory danych</vt:lpstr>
      <vt:lpstr>Skuteczność – TOP 10</vt:lpstr>
      <vt:lpstr>Macierz pomyłek </vt:lpstr>
      <vt:lpstr>Wyniki testów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s.buldak</cp:lastModifiedBy>
  <cp:revision>11</cp:revision>
  <dcterms:created xsi:type="dcterms:W3CDTF">2013-01-27T09:14:16Z</dcterms:created>
  <dcterms:modified xsi:type="dcterms:W3CDTF">2025-11-15T10:14:19Z</dcterms:modified>
  <cp:category/>
</cp:coreProperties>
</file>